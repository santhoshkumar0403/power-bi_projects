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8.jpg" ContentType="image/pn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90" r:id="rId10"/>
  </p:sldIdLst>
  <p:sldSz cx="9144000" cy="5143500" type="screen16x9"/>
  <p:notesSz cx="6858000" cy="9144000"/>
  <p:embeddedFontLst>
    <p:embeddedFont>
      <p:font typeface="Albert Sans" panose="020B0604020202020204" charset="0"/>
      <p:regular r:id="rId12"/>
      <p:bold r:id="rId13"/>
      <p:italic r:id="rId14"/>
      <p:boldItalic r:id="rId15"/>
    </p:embeddedFont>
    <p:embeddedFont>
      <p:font typeface="Algerian" panose="04020705040A02060702" pitchFamily="82" charset="0"/>
      <p:regular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Raleway" pitchFamily="2" charset="0"/>
      <p:regular r:id="rId21"/>
      <p:bold r:id="rId22"/>
      <p:italic r:id="rId23"/>
      <p:boldItalic r:id="rId24"/>
    </p:embeddedFont>
    <p:embeddedFont>
      <p:font typeface="Syne" panose="020B0604020202020204" charset="0"/>
      <p:regular r:id="rId25"/>
      <p:bold r:id="rId26"/>
    </p:embeddedFont>
    <p:embeddedFont>
      <p:font typeface="Syne Medium" panose="020B0604020202020204" charset="0"/>
      <p:regular r:id="rId27"/>
      <p:bold r:id="rId28"/>
    </p:embeddedFont>
    <p:embeddedFont>
      <p:font typeface="Syne SemiBold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9EFB33-2EF0-44E1-B770-989A99A8E2E1}">
  <a:tblStyle styleId="{5D9EFB33-2EF0-44E1-B770-989A99A8E2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2482127-A5FF-4CF0-B193-4E827498B1E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 Kumar" userId="3b9b47a7ec8aeef3" providerId="LiveId" clId="{87B8C3F4-D40B-427B-8FC2-54CEC677C353}"/>
    <pc:docChg chg="modSld">
      <pc:chgData name="Santhosh Kumar" userId="3b9b47a7ec8aeef3" providerId="LiveId" clId="{87B8C3F4-D40B-427B-8FC2-54CEC677C353}" dt="2025-11-19T06:47:11.140" v="8" actId="1076"/>
      <pc:docMkLst>
        <pc:docMk/>
      </pc:docMkLst>
      <pc:sldChg chg="modSp mod">
        <pc:chgData name="Santhosh Kumar" userId="3b9b47a7ec8aeef3" providerId="LiveId" clId="{87B8C3F4-D40B-427B-8FC2-54CEC677C353}" dt="2025-11-19T06:47:11.140" v="8" actId="1076"/>
        <pc:sldMkLst>
          <pc:docMk/>
          <pc:sldMk cId="0" sldId="256"/>
        </pc:sldMkLst>
        <pc:spChg chg="mod">
          <ac:chgData name="Santhosh Kumar" userId="3b9b47a7ec8aeef3" providerId="LiveId" clId="{87B8C3F4-D40B-427B-8FC2-54CEC677C353}" dt="2025-11-19T06:47:05.367" v="7" actId="1076"/>
          <ac:spMkLst>
            <pc:docMk/>
            <pc:sldMk cId="0" sldId="256"/>
            <ac:spMk id="2" creationId="{D3A0060C-5CA7-0179-79E4-93E1B2798381}"/>
          </ac:spMkLst>
        </pc:spChg>
        <pc:spChg chg="mod">
          <ac:chgData name="Santhosh Kumar" userId="3b9b47a7ec8aeef3" providerId="LiveId" clId="{87B8C3F4-D40B-427B-8FC2-54CEC677C353}" dt="2025-11-19T06:47:11.140" v="8" actId="1076"/>
          <ac:spMkLst>
            <pc:docMk/>
            <pc:sldMk cId="0" sldId="256"/>
            <ac:spMk id="127" creationId="{00000000-0000-0000-0000-000000000000}"/>
          </ac:spMkLst>
        </pc:spChg>
        <pc:spChg chg="mod">
          <ac:chgData name="Santhosh Kumar" userId="3b9b47a7ec8aeef3" providerId="LiveId" clId="{87B8C3F4-D40B-427B-8FC2-54CEC677C353}" dt="2025-11-19T06:46:53.213" v="6" actId="255"/>
          <ac:spMkLst>
            <pc:docMk/>
            <pc:sldMk cId="0" sldId="256"/>
            <ac:spMk id="128" creationId="{00000000-0000-0000-0000-000000000000}"/>
          </ac:spMkLst>
        </pc:spChg>
      </pc:sldChg>
      <pc:sldChg chg="modSp mod">
        <pc:chgData name="Santhosh Kumar" userId="3b9b47a7ec8aeef3" providerId="LiveId" clId="{87B8C3F4-D40B-427B-8FC2-54CEC677C353}" dt="2025-11-19T06:27:27.582" v="2" actId="14100"/>
        <pc:sldMkLst>
          <pc:docMk/>
          <pc:sldMk cId="0" sldId="257"/>
        </pc:sldMkLst>
        <pc:spChg chg="mod">
          <ac:chgData name="Santhosh Kumar" userId="3b9b47a7ec8aeef3" providerId="LiveId" clId="{87B8C3F4-D40B-427B-8FC2-54CEC677C353}" dt="2025-11-19T06:27:27.582" v="2" actId="14100"/>
          <ac:spMkLst>
            <pc:docMk/>
            <pc:sldMk cId="0" sldId="257"/>
            <ac:spMk id="1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7ab2cd0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7ab2cd0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c5a6c8ff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c5a6c8ff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1" name="Google Shape;5411;g347694f6db2_0_140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2" name="Google Shape;5412;g347694f6db2_0_140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startup-osc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389400" y="3946400"/>
            <a:ext cx="30414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techstartup-osc.jpg"/>
          <p:cNvPicPr preferRelativeResize="0"/>
          <p:nvPr/>
        </p:nvPicPr>
        <p:blipFill rotWithShape="1">
          <a:blip r:embed="rId2">
            <a:alphaModFix/>
          </a:blip>
          <a:srcRect t="31124" r="3112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3225" y="3585200"/>
            <a:ext cx="77178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499725"/>
            <a:ext cx="1267500" cy="68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 title="techstartup-osc4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720000" y="3644300"/>
            <a:ext cx="2955300" cy="9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4592700" y="3268312"/>
            <a:ext cx="3838200" cy="12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4589325" y="1219088"/>
            <a:ext cx="3838200" cy="12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4589325" y="646388"/>
            <a:ext cx="3838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4592700" y="2695612"/>
            <a:ext cx="3838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techstartup-osc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" name="Google Shape;32;p7"/>
          <p:cNvSpPr txBox="1">
            <a:spLocks noGrp="1"/>
          </p:cNvSpPr>
          <p:nvPr>
            <p:ph type="subTitle" idx="1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811975" y="539488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>
            <a:spLocks noGrp="1"/>
          </p:cNvSpPr>
          <p:nvPr>
            <p:ph type="pic" idx="2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 title="techstartup-osc.jpg"/>
          <p:cNvPicPr preferRelativeResize="0"/>
          <p:nvPr/>
        </p:nvPicPr>
        <p:blipFill rotWithShape="1">
          <a:blip r:embed="rId2">
            <a:alphaModFix/>
          </a:blip>
          <a:srcRect t="31124" r="3112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title="techstartup-osc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techstartup-osc2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686400" cy="6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 hasCustomPrompt="1"/>
          </p:nvPr>
        </p:nvSpPr>
        <p:spPr>
          <a:xfrm>
            <a:off x="4494552" y="1951075"/>
            <a:ext cx="1013400" cy="62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 hasCustomPrompt="1"/>
          </p:nvPr>
        </p:nvSpPr>
        <p:spPr>
          <a:xfrm>
            <a:off x="4494552" y="3306275"/>
            <a:ext cx="1013400" cy="62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4" hasCustomPrompt="1"/>
          </p:nvPr>
        </p:nvSpPr>
        <p:spPr>
          <a:xfrm>
            <a:off x="4494552" y="2628675"/>
            <a:ext cx="1013400" cy="62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5" hasCustomPrompt="1"/>
          </p:nvPr>
        </p:nvSpPr>
        <p:spPr>
          <a:xfrm>
            <a:off x="4494552" y="3983875"/>
            <a:ext cx="1013400" cy="62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5559775" y="1951088"/>
            <a:ext cx="28710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5559775" y="2628688"/>
            <a:ext cx="28710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5559775" y="3306288"/>
            <a:ext cx="28710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5559775" y="3983888"/>
            <a:ext cx="28710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0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techstartup-osc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>
            <a:spLocks noGrp="1"/>
          </p:cNvSpPr>
          <p:nvPr>
            <p:ph type="pic" idx="2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techstartup-osc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762679" y="794675"/>
            <a:ext cx="7618500" cy="69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85049" y="2398525"/>
            <a:ext cx="5196300" cy="19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techstartup-osc6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 title="techstartup-osc4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8" r:id="rId14"/>
    <p:sldLayoutId id="2147483669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subTitle" idx="1"/>
          </p:nvPr>
        </p:nvSpPr>
        <p:spPr>
          <a:xfrm>
            <a:off x="6733449" y="671359"/>
            <a:ext cx="2410551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Turning Sales Data into Smart Decisions.”</a:t>
            </a:r>
            <a:endParaRPr dirty="0"/>
          </a:p>
        </p:txBody>
      </p:sp>
      <p:sp>
        <p:nvSpPr>
          <p:cNvPr id="128" name="Google Shape;128;p28"/>
          <p:cNvSpPr txBox="1">
            <a:spLocks noGrp="1"/>
          </p:cNvSpPr>
          <p:nvPr>
            <p:ph type="ctrTitle"/>
          </p:nvPr>
        </p:nvSpPr>
        <p:spPr>
          <a:xfrm>
            <a:off x="527824" y="-83600"/>
            <a:ext cx="7717500" cy="9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sng" dirty="0">
                <a:latin typeface="Algerian" panose="04020705040A02060702" pitchFamily="82" charset="0"/>
              </a:rPr>
              <a:t>E-Commerce Sales Analysis</a:t>
            </a:r>
            <a:endParaRPr sz="4000" b="1" u="sng" dirty="0">
              <a:latin typeface="Algerian" panose="04020705040A02060702" pitchFamily="82" charset="0"/>
            </a:endParaRPr>
          </a:p>
        </p:txBody>
      </p:sp>
      <p:cxnSp>
        <p:nvCxnSpPr>
          <p:cNvPr id="130" name="Google Shape;130;p28"/>
          <p:cNvCxnSpPr>
            <a:cxnSpLocks/>
          </p:cNvCxnSpPr>
          <p:nvPr/>
        </p:nvCxnSpPr>
        <p:spPr>
          <a:xfrm>
            <a:off x="1430700" y="4800200"/>
            <a:ext cx="76561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3A0060C-5CA7-0179-79E4-93E1B2798381}"/>
              </a:ext>
            </a:extLst>
          </p:cNvPr>
          <p:cNvSpPr txBox="1"/>
          <p:nvPr/>
        </p:nvSpPr>
        <p:spPr>
          <a:xfrm>
            <a:off x="213456" y="1761319"/>
            <a:ext cx="81392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Problem Statement </a:t>
            </a:r>
            <a:r>
              <a:rPr lang="en-US" sz="2000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 company has large e-commerce sales data but lacks clear insights into which products, regions, and customers drive revenue and profit. This makes it difficult to improve sales performance and business decisions.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The goal of the analysis is to identify key trends, top performers, and problem areas to help the company increase sales and profitability.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/>
        </p:nvSpPr>
        <p:spPr>
          <a:xfrm>
            <a:off x="470727" y="1197333"/>
            <a:ext cx="8202545" cy="35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en-US" sz="2400" u="sng" dirty="0">
                <a:solidFill>
                  <a:schemeClr val="tx1"/>
                </a:solidFill>
              </a:rPr>
              <a:t>The goal of this project is to analyze E-commerce sales data to uncover insights such as: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defRPr sz="1800">
                <a:solidFill>
                  <a:srgbClr val="282828"/>
                </a:solidFill>
              </a:defRPr>
            </a:pP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- Which regions, categories, and products contribute most to sales and profit</a:t>
            </a:r>
          </a:p>
          <a:p>
            <a:r>
              <a:rPr lang="en-US" sz="2400" dirty="0">
                <a:solidFill>
                  <a:schemeClr val="tx1"/>
                </a:solidFill>
              </a:rPr>
              <a:t>- How discounts affect profit margins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- Monthly sales and profit trends</a:t>
            </a:r>
          </a:p>
          <a:p>
            <a:r>
              <a:rPr lang="en-US" sz="2400" dirty="0">
                <a:solidFill>
                  <a:schemeClr val="tx1"/>
                </a:solidFill>
              </a:rPr>
              <a:t>- Payment mode preferences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u="sng" dirty="0">
              <a:solidFill>
                <a:schemeClr val="tx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9" name="Google Shape;139;p29"/>
          <p:cNvSpPr txBox="1">
            <a:spLocks noGrp="1"/>
          </p:cNvSpPr>
          <p:nvPr>
            <p:ph type="title"/>
          </p:nvPr>
        </p:nvSpPr>
        <p:spPr>
          <a:xfrm>
            <a:off x="291375" y="266431"/>
            <a:ext cx="7866788" cy="7408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Project Objective:-</a:t>
            </a:r>
            <a:endParaRPr sz="3600" b="0" dirty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>
            <a:spLocks noGrp="1"/>
          </p:cNvSpPr>
          <p:nvPr>
            <p:ph type="title"/>
          </p:nvPr>
        </p:nvSpPr>
        <p:spPr>
          <a:xfrm>
            <a:off x="0" y="125162"/>
            <a:ext cx="4916050" cy="677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 Overview:-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5FBD1-7C45-DD4F-9727-F5494FFE9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006" y="658068"/>
            <a:ext cx="8541988" cy="3724475"/>
          </a:xfrm>
        </p:spPr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The dataset consists of two CSV files:</a:t>
            </a:r>
          </a:p>
          <a:p>
            <a:endParaRPr lang="en-US" dirty="0"/>
          </a:p>
          <a:p>
            <a:r>
              <a:rPr lang="en-US" dirty="0"/>
              <a:t>1. Details.csv - contains product and sales details</a:t>
            </a:r>
          </a:p>
          <a:p>
            <a:r>
              <a:rPr lang="en-US" dirty="0"/>
              <a:t>2. Orders.csv - contains order information such as customer, date, and region</a:t>
            </a:r>
          </a:p>
          <a:p>
            <a:endParaRPr lang="en-US" dirty="0"/>
          </a:p>
          <a:p>
            <a:r>
              <a:rPr lang="en-US" dirty="0"/>
              <a:t>Total Records: 500</a:t>
            </a:r>
          </a:p>
          <a:p>
            <a:r>
              <a:rPr lang="en-US" dirty="0"/>
              <a:t>Columns: Order ID, Order Date, Customer Name, State, City...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>
            <a:spLocks noGrp="1"/>
          </p:cNvSpPr>
          <p:nvPr>
            <p:ph type="title"/>
          </p:nvPr>
        </p:nvSpPr>
        <p:spPr>
          <a:xfrm>
            <a:off x="471487" y="82178"/>
            <a:ext cx="8182007" cy="6409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Data Cleaning &amp; Transformation :</a:t>
            </a:r>
            <a:endParaRPr sz="3600" dirty="0"/>
          </a:p>
        </p:txBody>
      </p:sp>
      <p:sp>
        <p:nvSpPr>
          <p:cNvPr id="159" name="Google Shape;159;p31"/>
          <p:cNvSpPr txBox="1">
            <a:spLocks noGrp="1"/>
          </p:cNvSpPr>
          <p:nvPr>
            <p:ph type="subTitle" idx="1"/>
          </p:nvPr>
        </p:nvSpPr>
        <p:spPr>
          <a:xfrm>
            <a:off x="4928799" y="1475100"/>
            <a:ext cx="3893731" cy="33183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Steps followed in Power Query Editor: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- Removed duplicate records</a:t>
            </a:r>
          </a:p>
          <a:p>
            <a:r>
              <a:rPr lang="en-US" dirty="0">
                <a:solidFill>
                  <a:schemeClr val="tx1"/>
                </a:solidFill>
              </a:rPr>
              <a:t>- Changed data types (Date, Number, Text)</a:t>
            </a:r>
          </a:p>
          <a:p>
            <a:r>
              <a:rPr lang="en-US" dirty="0">
                <a:solidFill>
                  <a:schemeClr val="tx1"/>
                </a:solidFill>
              </a:rPr>
              <a:t>- Created new columns:</a:t>
            </a:r>
          </a:p>
          <a:p>
            <a:r>
              <a:rPr lang="en-US" dirty="0">
                <a:solidFill>
                  <a:schemeClr val="tx1"/>
                </a:solidFill>
              </a:rPr>
              <a:t>   • Year = YEAR(</a:t>
            </a:r>
            <a:r>
              <a:rPr lang="en-US" dirty="0" err="1">
                <a:solidFill>
                  <a:schemeClr val="tx1"/>
                </a:solidFill>
              </a:rPr>
              <a:t>Order_Date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   • Month = FORMAT(</a:t>
            </a:r>
            <a:r>
              <a:rPr lang="en-US" dirty="0" err="1">
                <a:solidFill>
                  <a:schemeClr val="tx1"/>
                </a:solidFill>
              </a:rPr>
              <a:t>Order_Date</a:t>
            </a:r>
            <a:r>
              <a:rPr lang="en-US" dirty="0">
                <a:solidFill>
                  <a:schemeClr val="tx1"/>
                </a:solidFill>
              </a:rPr>
              <a:t>, 'MMM')</a:t>
            </a:r>
          </a:p>
          <a:p>
            <a:r>
              <a:rPr lang="en-US" dirty="0">
                <a:solidFill>
                  <a:schemeClr val="tx1"/>
                </a:solidFill>
              </a:rPr>
              <a:t>   • Profit Margin = Profit / Amount</a:t>
            </a:r>
          </a:p>
          <a:p>
            <a:r>
              <a:rPr lang="en-US" dirty="0">
                <a:solidFill>
                  <a:schemeClr val="tx1"/>
                </a:solidFill>
              </a:rPr>
              <a:t>- Handled null values and verified consistency across tables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2AC83EC-2D70-C4CC-FD69-3717B4B639E4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0725" r="20725"/>
          <a:stretch>
            <a:fillRect/>
          </a:stretch>
        </p:blipFill>
        <p:spPr>
          <a:xfrm>
            <a:off x="471487" y="1476775"/>
            <a:ext cx="3823313" cy="3264077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>
            <a:spLocks noGrp="1"/>
          </p:cNvSpPr>
          <p:nvPr>
            <p:ph type="title"/>
          </p:nvPr>
        </p:nvSpPr>
        <p:spPr>
          <a:xfrm>
            <a:off x="417334" y="1154900"/>
            <a:ext cx="8309331" cy="3645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defRPr sz="1800">
                <a:solidFill>
                  <a:srgbClr val="282828"/>
                </a:solidFill>
              </a:defRPr>
            </a:pPr>
            <a:r>
              <a:rPr lang="en-US" sz="1800" dirty="0">
                <a:solidFill>
                  <a:schemeClr val="tx1"/>
                </a:solidFill>
              </a:rPr>
              <a:t>Dashboard Title: ‘E-COMMERCE SALES ANALYSIS'</a:t>
            </a:r>
            <a:br>
              <a:rPr lang="en-US" sz="1800" dirty="0">
                <a:solidFill>
                  <a:schemeClr val="tx1"/>
                </a:solidFill>
              </a:rPr>
            </a:b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Key Metrics: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• Total Sales: 191K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• Quantity Sold: 1944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• Profit: 19K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• AOV: 50.06K</a:t>
            </a:r>
            <a:br>
              <a:rPr lang="en-US" sz="1800" dirty="0">
                <a:solidFill>
                  <a:schemeClr val="tx1"/>
                </a:solidFill>
              </a:rPr>
            </a:b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Filters: Quarter slicer (Q1, Q2, Q3, Q4)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Visuals Used: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- KPI Cards, Bar Charts, Donut Charts, Column Chart</a:t>
            </a:r>
            <a:br>
              <a:rPr lang="en-US" sz="1800" dirty="0">
                <a:solidFill>
                  <a:schemeClr val="tx1"/>
                </a:solidFill>
              </a:rPr>
            </a:b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165" name="Google Shape;165;p32"/>
          <p:cNvSpPr txBox="1">
            <a:spLocks noGrp="1"/>
          </p:cNvSpPr>
          <p:nvPr>
            <p:ph type="title" idx="2"/>
          </p:nvPr>
        </p:nvSpPr>
        <p:spPr>
          <a:xfrm>
            <a:off x="306325" y="172250"/>
            <a:ext cx="7717800" cy="7861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Dashboard Design Overview:</a:t>
            </a:r>
            <a:endParaRPr dirty="0"/>
          </a:p>
        </p:txBody>
      </p:sp>
      <p:cxnSp>
        <p:nvCxnSpPr>
          <p:cNvPr id="167" name="Google Shape;167;p32"/>
          <p:cNvCxnSpPr/>
          <p:nvPr/>
        </p:nvCxnSpPr>
        <p:spPr>
          <a:xfrm>
            <a:off x="1430700" y="4800200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>
            <a:spLocks noGrp="1"/>
          </p:cNvSpPr>
          <p:nvPr>
            <p:ph type="title"/>
          </p:nvPr>
        </p:nvSpPr>
        <p:spPr>
          <a:xfrm>
            <a:off x="105454" y="96275"/>
            <a:ext cx="76185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Dashboard Visualization :</a:t>
            </a:r>
            <a:endParaRPr dirty="0"/>
          </a:p>
        </p:txBody>
      </p:sp>
      <p:sp>
        <p:nvSpPr>
          <p:cNvPr id="173" name="Google Shape;173;p33"/>
          <p:cNvSpPr txBox="1">
            <a:spLocks noGrp="1"/>
          </p:cNvSpPr>
          <p:nvPr>
            <p:ph type="body" idx="1"/>
          </p:nvPr>
        </p:nvSpPr>
        <p:spPr>
          <a:xfrm>
            <a:off x="256112" y="991206"/>
            <a:ext cx="5196300" cy="19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CD5156-A6B2-BEAC-E850-84EBCE744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5" y="914400"/>
            <a:ext cx="8875722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>
            <a:spLocks noGrp="1"/>
          </p:cNvSpPr>
          <p:nvPr>
            <p:ph type="subTitle" idx="2"/>
          </p:nvPr>
        </p:nvSpPr>
        <p:spPr>
          <a:xfrm>
            <a:off x="121444" y="1219088"/>
            <a:ext cx="8306081" cy="3924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en-US" sz="2000" dirty="0">
                <a:solidFill>
                  <a:schemeClr val="tx1"/>
                </a:solidFill>
              </a:rPr>
              <a:t>📊 Key Insights:</a:t>
            </a:r>
          </a:p>
          <a:p>
            <a:r>
              <a:rPr lang="en-US" sz="2000" dirty="0">
                <a:solidFill>
                  <a:schemeClr val="tx1"/>
                </a:solidFill>
              </a:rPr>
              <a:t>- Maharashtra, MP, and UP drive highest sales.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- Bookcases and Tables contribute the most profit.</a:t>
            </a:r>
          </a:p>
          <a:p>
            <a:r>
              <a:rPr lang="en-US" sz="2000" dirty="0">
                <a:solidFill>
                  <a:schemeClr val="tx1"/>
                </a:solidFill>
              </a:rPr>
              <a:t>- UPI and COD are most used payment modes.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- July and August show lowest profits due to discounts.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- Category 'Clothing' sells highest in quantity but lower profit margins.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💡 Recommendation:</a:t>
            </a:r>
          </a:p>
          <a:p>
            <a:r>
              <a:rPr lang="en-US" sz="2000" dirty="0">
                <a:solidFill>
                  <a:schemeClr val="tx1"/>
                </a:solidFill>
              </a:rPr>
              <a:t>- Optimize discounts in low-profit months.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- Promote high-margin products in underperforming regions.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80" name="Google Shape;180;p34"/>
          <p:cNvSpPr txBox="1">
            <a:spLocks noGrp="1"/>
          </p:cNvSpPr>
          <p:nvPr>
            <p:ph type="title"/>
          </p:nvPr>
        </p:nvSpPr>
        <p:spPr>
          <a:xfrm>
            <a:off x="219937" y="0"/>
            <a:ext cx="5623651" cy="9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Insights &amp; Analysis :</a:t>
            </a:r>
            <a:endParaRPr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0;p34">
            <a:extLst>
              <a:ext uri="{FF2B5EF4-FFF2-40B4-BE49-F238E27FC236}">
                <a16:creationId xmlns:a16="http://schemas.microsoft.com/office/drawing/2014/main" id="{0D07B1D2-33EC-013F-FD9F-2DF71ABA2F2D}"/>
              </a:ext>
            </a:extLst>
          </p:cNvPr>
          <p:cNvSpPr txBox="1">
            <a:spLocks/>
          </p:cNvSpPr>
          <p:nvPr/>
        </p:nvSpPr>
        <p:spPr>
          <a:xfrm>
            <a:off x="2363062" y="2000250"/>
            <a:ext cx="5623651" cy="9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THANK YOU SIR.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414</Words>
  <Application>Microsoft Office PowerPoint</Application>
  <PresentationFormat>On-screen Show (16:9)</PresentationFormat>
  <Paragraphs>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Algerian</vt:lpstr>
      <vt:lpstr>Inter</vt:lpstr>
      <vt:lpstr>Albert Sans</vt:lpstr>
      <vt:lpstr>Syne SemiBold</vt:lpstr>
      <vt:lpstr>Arial</vt:lpstr>
      <vt:lpstr>Raleway</vt:lpstr>
      <vt:lpstr>Syne Medium</vt:lpstr>
      <vt:lpstr>Syne</vt:lpstr>
      <vt:lpstr>Tech Startup by Slidesgo</vt:lpstr>
      <vt:lpstr>Slidesgo Final Pages</vt:lpstr>
      <vt:lpstr>E-Commerce Sales Analysis</vt:lpstr>
      <vt:lpstr>Project Objective:-</vt:lpstr>
      <vt:lpstr>Dataset Overview:-</vt:lpstr>
      <vt:lpstr>Data Cleaning &amp; Transformation :</vt:lpstr>
      <vt:lpstr>Dashboard Title: ‘E-COMMERCE SALES ANALYSIS'  Key Metrics: • Total Sales: 191K • Quantity Sold: 1944 • Profit: 19K • AOV: 50.06K  Filters: Quarter slicer (Q1, Q2, Q3, Q4) Visuals Used: - KPI Cards, Bar Charts, Donut Charts, Column Chart </vt:lpstr>
      <vt:lpstr>Dashboard Visualization :</vt:lpstr>
      <vt:lpstr>Insights &amp; Analysis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Santhosh Kumar</cp:lastModifiedBy>
  <cp:revision>2</cp:revision>
  <dcterms:modified xsi:type="dcterms:W3CDTF">2025-11-19T11:25:44Z</dcterms:modified>
</cp:coreProperties>
</file>